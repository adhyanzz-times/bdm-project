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Algerian" panose="04020705040A02060702" pitchFamily="82" charset="0"/>
      <p:regular r:id="rId13"/>
    </p:embeddedFont>
    <p:embeddedFont>
      <p:font typeface="Anton" pitchFamily="2" charset="0"/>
      <p:regular r:id="rId14"/>
    </p:embeddedFont>
    <p:embeddedFont>
      <p:font typeface="Bookman Old Style" panose="02050604050505020204" pitchFamily="18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Eater" panose="020B0604020202020204" charset="0"/>
      <p:regular r:id="rId23"/>
    </p:embeddedFont>
    <p:embeddedFont>
      <p:font typeface="EB Garamond" panose="00000500000000000000" pitchFamily="2" charset="0"/>
      <p:regular r:id="rId24"/>
      <p:bold r:id="rId25"/>
      <p:italic r:id="rId26"/>
      <p:boldItalic r:id="rId27"/>
    </p:embeddedFont>
    <p:embeddedFont>
      <p:font typeface="Libre Franklin" pitchFamily="2" charset="0"/>
      <p:regular r:id="rId28"/>
      <p:bold r:id="rId29"/>
      <p:italic r:id="rId30"/>
      <p:boldItalic r:id="rId31"/>
    </p:embeddedFont>
    <p:embeddedFont>
      <p:font typeface="Lustria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4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dt" idx="10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ftr" idx="11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 rot="5400000">
            <a:off x="4246035" y="-1040554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sz="4700" b="0" i="0" u="none" strike="noStrike" cap="non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492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sz="1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hyperlink" Target="https://drive.google.com/drive/folders/1etBHtyKJqwYKZCw8tOjVTiYpYYPT65W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/>
          <p:nvPr/>
        </p:nvSpPr>
        <p:spPr>
          <a:xfrm>
            <a:off x="0" y="1"/>
            <a:ext cx="12192001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Bookman Old Style"/>
              <a:buNone/>
            </a:pPr>
            <a:r>
              <a:rPr lang="en-IN" sz="6000"/>
              <a:t>Analytical Study of a Retail Accessories Shop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ADHYAN MISHRA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IN" cap="none"/>
              <a:t>23f2000260</a:t>
            </a:r>
            <a:r>
              <a:rPr lang="en-IN" sz="2400" cap="none"/>
              <a:t>@ds.study.iitm.ac.in</a:t>
            </a:r>
            <a:endParaRPr/>
          </a:p>
        </p:txBody>
      </p:sp>
      <p:pic>
        <p:nvPicPr>
          <p:cNvPr id="102" name="Google Shape;102;p13" descr="A picture containing building, sitting, bench, sid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3"/>
          <p:cNvCxnSpPr/>
          <p:nvPr/>
        </p:nvCxnSpPr>
        <p:spPr>
          <a:xfrm>
            <a:off x="5427754" y="4498925"/>
            <a:ext cx="5636107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DD8A6AB-E05C-61F5-FCD6-0DD25E231A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4635314" y="-180077"/>
            <a:ext cx="7218154" cy="7218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23A873-BBA7-E313-DCCE-B99AC16A92F1}"/>
              </a:ext>
            </a:extLst>
          </p:cNvPr>
          <p:cNvSpPr txBox="1"/>
          <p:nvPr/>
        </p:nvSpPr>
        <p:spPr>
          <a:xfrm>
            <a:off x="11559100" y="6389914"/>
            <a:ext cx="480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9" name="Google Shape;109;p1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B Garamond"/>
              <a:buNone/>
            </a:pPr>
            <a:r>
              <a:rPr lang="en-IN" sz="360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ABOUT THE BUSINESS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"/>
          </p:nvPr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</a:t>
            </a: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Sudheer Kumar Belts &amp; Goggles 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is a well established 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accessories  selling business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with a 40-year legacy.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endParaRPr lang="en-US" sz="2000" cap="none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rPr lang="en-US" sz="16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</a:t>
            </a: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Owned by Mr. Sudhir Kumar,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the business was originally a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family venture, now solely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managed by him.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endParaRPr lang="en-US" sz="2000" cap="none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rPr lang="en-US" sz="16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</a:t>
            </a: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business operates on B2C business model.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endParaRPr lang="en-US" sz="2000" cap="none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rPr lang="en-US" sz="16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</a:t>
            </a: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Address : GT Road , Azadpur , North Delhi - 110033 </a:t>
            </a:r>
            <a:endParaRPr 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 sz="2000" cap="none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1040" y="1330960"/>
            <a:ext cx="2590799" cy="3520440"/>
          </a:xfrm>
          <a:prstGeom prst="rect">
            <a:avLst/>
          </a:prstGeom>
          <a:solidFill>
            <a:srgbClr val="6A7D93"/>
          </a:solidFill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7665" y="1330960"/>
            <a:ext cx="469392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4517136" y="1330960"/>
            <a:ext cx="1178560" cy="1381760"/>
          </a:xfrm>
          <a:prstGeom prst="halfFrame">
            <a:avLst>
              <a:gd name="adj1" fmla="val 33333"/>
              <a:gd name="adj2" fmla="val 33333"/>
            </a:avLst>
          </a:prstGeom>
          <a:solidFill>
            <a:srgbClr val="0C0C0C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5" name="Google Shape;115;p14"/>
          <p:cNvSpPr/>
          <p:nvPr/>
        </p:nvSpPr>
        <p:spPr>
          <a:xfrm rot="10800000">
            <a:off x="10816073" y="3520440"/>
            <a:ext cx="1177036" cy="1330960"/>
          </a:xfrm>
          <a:prstGeom prst="halfFrame">
            <a:avLst>
              <a:gd name="adj1" fmla="val 30747"/>
              <a:gd name="adj2" fmla="val 33333"/>
            </a:avLst>
          </a:prstGeom>
          <a:solidFill>
            <a:srgbClr val="0C0C0C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F5D8A9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16" name="Google Shape;116;p14"/>
          <p:cNvCxnSpPr/>
          <p:nvPr/>
        </p:nvCxnSpPr>
        <p:spPr>
          <a:xfrm>
            <a:off x="7193280" y="1330960"/>
            <a:ext cx="0" cy="352044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6A8014-E45C-99A1-5B10-F42ABD03B4A4}"/>
              </a:ext>
            </a:extLst>
          </p:cNvPr>
          <p:cNvSpPr txBox="1"/>
          <p:nvPr/>
        </p:nvSpPr>
        <p:spPr>
          <a:xfrm>
            <a:off x="11451771" y="6477000"/>
            <a:ext cx="620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</a:t>
            </a:r>
            <a:r>
              <a:rPr lang="en-IN" dirty="0">
                <a:latin typeface="Algerian" panose="04020705040A02060702" pitchFamily="82" charset="0"/>
              </a:rPr>
              <a:t>2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/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B Garamond"/>
              <a:buNone/>
            </a:pPr>
            <a:r>
              <a:rPr lang="en-IN" sz="3600" b="0" i="0" u="sng" strike="noStrike" cap="none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CHALLENGES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-1541" y="105664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931655" y="1696720"/>
            <a:ext cx="5161280" cy="224536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38100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092935" y="4262120"/>
            <a:ext cx="5161280" cy="224536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38100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91363" y="1376680"/>
            <a:ext cx="842797" cy="848360"/>
          </a:xfrm>
          <a:prstGeom prst="flowChartConnector">
            <a:avLst/>
          </a:prstGeom>
          <a:solidFill>
            <a:srgbClr val="FFC000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68921" y="1554480"/>
            <a:ext cx="487680" cy="487680"/>
          </a:xfrm>
          <a:prstGeom prst="noSmoking">
            <a:avLst>
              <a:gd name="adj" fmla="val 18750"/>
            </a:avLst>
          </a:prstGeom>
          <a:solidFill>
            <a:schemeClr val="dk1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83296" y="3942080"/>
            <a:ext cx="842797" cy="848360"/>
          </a:xfrm>
          <a:prstGeom prst="flowChartConnector">
            <a:avLst/>
          </a:prstGeom>
          <a:solidFill>
            <a:srgbClr val="FFC000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960854" y="4124960"/>
            <a:ext cx="487680" cy="487680"/>
          </a:xfrm>
          <a:prstGeom prst="noSmoking">
            <a:avLst>
              <a:gd name="adj" fmla="val 18750"/>
            </a:avLst>
          </a:prstGeom>
          <a:solidFill>
            <a:schemeClr val="dk1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687287" y="1696720"/>
            <a:ext cx="375847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store is facing the problem of </a:t>
            </a:r>
            <a:r>
              <a:rPr lang="en-IN" sz="2000" u="sng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Dead Stock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In addition to tying up capital, excess inventory occupies valuable storage space and limits the ability to introduce new trends.</a:t>
            </a:r>
            <a:endParaRPr sz="20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935732" y="4612640"/>
            <a:ext cx="345794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Shop experiences </a:t>
            </a:r>
            <a:r>
              <a:rPr lang="en-IN" sz="2000" u="sng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Stagnant Profit Generation</a:t>
            </a:r>
            <a:r>
              <a:rPr lang="en-IN" sz="20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with sales and revenue remaining nearly constant across all months</a:t>
            </a:r>
            <a:r>
              <a:rPr lang="en-IN" sz="18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endParaRPr sz="18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31" name="Google Shape;131;p15" descr="Bar char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4016" y="4480560"/>
            <a:ext cx="3096544" cy="191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Downward trend graph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8768" y="1671811"/>
            <a:ext cx="2848348" cy="2018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Award ribbon with st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51065" y="642620"/>
            <a:ext cx="2799080" cy="279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DACA57-1A40-0274-7AC5-9869403CB9A9}"/>
              </a:ext>
            </a:extLst>
          </p:cNvPr>
          <p:cNvSpPr txBox="1"/>
          <p:nvPr/>
        </p:nvSpPr>
        <p:spPr>
          <a:xfrm>
            <a:off x="11713029" y="6507480"/>
            <a:ext cx="474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B Garamond"/>
              <a:buNone/>
            </a:pP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DATA</a:t>
            </a:r>
            <a:r>
              <a:rPr lang="en-IN" sz="3600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OVERVIEW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" marR="0" lvl="0" indent="-1524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To tackle these challenges following data was collected from the period </a:t>
            </a:r>
            <a:endParaRPr/>
          </a:p>
          <a:p>
            <a:pPr marL="91440" marR="0" lvl="0" indent="-1524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1 JULY, 2024 to 30 AUG, 2024.</a:t>
            </a:r>
            <a:endParaRPr/>
          </a:p>
          <a:p>
            <a:pPr marL="9144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14959" y="3220720"/>
            <a:ext cx="5781041" cy="3149600"/>
          </a:xfrm>
          <a:prstGeom prst="rect">
            <a:avLst/>
          </a:prstGeom>
          <a:solidFill>
            <a:srgbClr val="DAD1B0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177281" y="3220720"/>
            <a:ext cx="5699759" cy="3149600"/>
          </a:xfrm>
          <a:prstGeom prst="rect">
            <a:avLst/>
          </a:prstGeom>
          <a:solidFill>
            <a:srgbClr val="DAD1B0"/>
          </a:solidFill>
          <a:ln w="15875" cap="flat" cmpd="sng">
            <a:solidFill>
              <a:srgbClr val="414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396240" y="3291840"/>
            <a:ext cx="53848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u="sng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01. Sales 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268720" y="3291840"/>
            <a:ext cx="55270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u="sng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02. Inventory data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396240" y="3999726"/>
            <a:ext cx="560832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Brands Name (Varieties)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Cost Price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Selling Price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No of Items sold on a particular day.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Data for Belts &amp; Goggles is distinct.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321060" y="3999726"/>
            <a:ext cx="54747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Quantity Bought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Quantity left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Date on which Items are bought.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Data for Belts &amp; Goggles is distinct.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D34D7-A365-E788-263B-C038A27B75E0}"/>
              </a:ext>
            </a:extLst>
          </p:cNvPr>
          <p:cNvSpPr txBox="1"/>
          <p:nvPr/>
        </p:nvSpPr>
        <p:spPr>
          <a:xfrm>
            <a:off x="11560629" y="6466114"/>
            <a:ext cx="544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B Garamond"/>
              <a:buNone/>
            </a:pP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FINANCIAL</a:t>
            </a:r>
            <a:r>
              <a:rPr lang="en-IN" sz="3600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OVERVIEW</a:t>
            </a:r>
            <a:r>
              <a:rPr lang="en-IN" sz="3600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 (SALES)</a:t>
            </a:r>
            <a:endParaRPr sz="3600" i="0" u="sng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endParaRPr sz="19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198" y="1132357"/>
            <a:ext cx="5157389" cy="2840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2080" y="1132358"/>
            <a:ext cx="5293722" cy="2840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5">
            <a:alphaModFix/>
          </a:blip>
          <a:srcRect l="2914" t="-1" r="3013" b="53082"/>
          <a:stretch/>
        </p:blipFill>
        <p:spPr>
          <a:xfrm>
            <a:off x="416198" y="4074058"/>
            <a:ext cx="515738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5">
            <a:alphaModFix/>
          </a:blip>
          <a:srcRect l="3457" t="51259" r="3840"/>
          <a:stretch/>
        </p:blipFill>
        <p:spPr>
          <a:xfrm>
            <a:off x="6482080" y="4074059"/>
            <a:ext cx="5293722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76F953-1E37-CF51-7E0B-546540C8155A}"/>
              </a:ext>
            </a:extLst>
          </p:cNvPr>
          <p:cNvSpPr txBox="1"/>
          <p:nvPr/>
        </p:nvSpPr>
        <p:spPr>
          <a:xfrm>
            <a:off x="11593286" y="6455229"/>
            <a:ext cx="463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</a:t>
            </a:r>
            <a:r>
              <a:rPr lang="en-IN" dirty="0">
                <a:latin typeface="Algerian" panose="04020705040A02060702" pitchFamily="82" charset="0"/>
              </a:rPr>
              <a:t>5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B Garamond"/>
              <a:buNone/>
            </a:pP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FINANCIAL</a:t>
            </a:r>
            <a:r>
              <a:rPr lang="en-IN" sz="3600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OVERVIEW</a:t>
            </a:r>
            <a:r>
              <a:rPr lang="en-IN" sz="3600" i="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 (INVENTORY)</a:t>
            </a:r>
            <a:endParaRPr sz="3600" i="0" u="sng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endParaRPr sz="19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l="-164" b="50000"/>
          <a:stretch/>
        </p:blipFill>
        <p:spPr>
          <a:xfrm>
            <a:off x="611262" y="1122526"/>
            <a:ext cx="5008880" cy="3029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l="1" t="50000" r="545"/>
          <a:stretch/>
        </p:blipFill>
        <p:spPr>
          <a:xfrm>
            <a:off x="6571858" y="1122526"/>
            <a:ext cx="5008880" cy="3029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5280" y="4152522"/>
            <a:ext cx="9103360" cy="26140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53DD76-4D2E-2D60-EE23-8B75E982967E}"/>
              </a:ext>
            </a:extLst>
          </p:cNvPr>
          <p:cNvSpPr txBox="1"/>
          <p:nvPr/>
        </p:nvSpPr>
        <p:spPr>
          <a:xfrm>
            <a:off x="11430000" y="6444343"/>
            <a:ext cx="664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EB Garamond"/>
              <a:buNone/>
            </a:pPr>
            <a:r>
              <a:rPr lang="en-IN" sz="3600" i="0" u="sng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PROFITS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IN"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                                                                     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</a:t>
            </a: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Profits generated over the span of 9 weeks almost remain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same or fluctuates between 4,000 to 5,000 INR.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●   The business shows regular profitability but lacks growth.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endParaRPr sz="2000">
              <a:solidFill>
                <a:srgbClr val="0C0C0C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●  One of the reasons of stagnant growth is competition with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other shops present in the market.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●  And other reason that is determined from the analysis of all the data present is the dead stock items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IN" sz="20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present in the inventory , as they tie up the capital and reduces profitability. </a:t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1300" y="1827595"/>
            <a:ext cx="4273180" cy="320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Magnifying glass showing decling performance"/>
          <p:cNvPicPr preferRelativeResize="0"/>
          <p:nvPr/>
        </p:nvPicPr>
        <p:blipFill rotWithShape="1">
          <a:blip r:embed="rId4">
            <a:alphaModFix amt="11000"/>
          </a:blip>
          <a:srcRect/>
          <a:stretch/>
        </p:blipFill>
        <p:spPr>
          <a:xfrm>
            <a:off x="4589" y="1087120"/>
            <a:ext cx="12182822" cy="57708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7EEE21-1565-F589-2CD4-B03961FC3835}"/>
              </a:ext>
            </a:extLst>
          </p:cNvPr>
          <p:cNvSpPr txBox="1"/>
          <p:nvPr/>
        </p:nvSpPr>
        <p:spPr>
          <a:xfrm>
            <a:off x="11506200" y="6487886"/>
            <a:ext cx="566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0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B Garamond"/>
              <a:buNone/>
            </a:pPr>
            <a:r>
              <a:rPr lang="en-IN" sz="3600" i="0" u="sng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Recommendations</a:t>
            </a:r>
            <a:r>
              <a:rPr lang="en-IN" sz="3600" i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(to increase Profit)</a:t>
            </a:r>
            <a:endParaRPr sz="3600" i="1" u="sng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-1170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-1143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 "/>
            </a:pPr>
            <a:r>
              <a:rPr lang="en-IN" sz="18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</a:t>
            </a:r>
            <a:r>
              <a:rPr lang="en-IN" sz="18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Focus  on  High-Margin  Products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   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Bundle  Offers  and  Discounts</a:t>
            </a:r>
            <a:endParaRPr sz="2800" b="1">
              <a:solidFill>
                <a:srgbClr val="0C0C0C"/>
              </a:solidFill>
              <a:latin typeface="Anton"/>
              <a:ea typeface="Anton"/>
              <a:cs typeface="Anton"/>
              <a:sym typeface="Anton"/>
            </a:endParaRPr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   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Seasonal  and  Promotional  Campaigns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  Enhance  Store  Layout  and  Display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  Leverage  Customer  Feedback</a:t>
            </a:r>
            <a:endParaRPr/>
          </a:p>
          <a:p>
            <a:pPr marL="9144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endParaRPr sz="2400">
              <a:solidFill>
                <a:srgbClr val="0C0C0C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79" name="Google Shape;179;p20" descr="One big red thumbtack in front of many smaller black thumbtacks"/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4589" y="1087120"/>
            <a:ext cx="12192000" cy="577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Books on shelf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1120" y="3068320"/>
            <a:ext cx="2997200" cy="2407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85A009-514C-8BF0-2470-15F9D7C1C27F}"/>
              </a:ext>
            </a:extLst>
          </p:cNvPr>
          <p:cNvSpPr txBox="1"/>
          <p:nvPr/>
        </p:nvSpPr>
        <p:spPr>
          <a:xfrm>
            <a:off x="11538857" y="6433457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</a:t>
            </a:r>
            <a:r>
              <a:rPr lang="en-IN" dirty="0">
                <a:latin typeface="Algerian" panose="04020705040A02060702" pitchFamily="82" charset="0"/>
              </a:rPr>
              <a:t>8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-4589" y="0"/>
            <a:ext cx="12192000" cy="10871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B Garamond"/>
              <a:buNone/>
            </a:pPr>
            <a:r>
              <a:rPr lang="en-IN" sz="3600" i="0" u="sng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Recommendations</a:t>
            </a:r>
            <a:r>
              <a:rPr lang="en-IN" sz="3600" i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(to reduce Dead Stock)</a:t>
            </a:r>
            <a:endParaRPr sz="3600" i="1" u="sng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>
              <a:solidFill>
                <a:srgbClr val="0C0C0C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   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Implement  ABC  Analysis  Regularly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   Discount  Dead  Stock</a:t>
            </a:r>
            <a:endParaRPr sz="2800" b="1">
              <a:solidFill>
                <a:srgbClr val="0C0C0C"/>
              </a:solidFill>
              <a:latin typeface="Anton"/>
              <a:ea typeface="Anton"/>
              <a:cs typeface="Anton"/>
              <a:sym typeface="Anton"/>
            </a:endParaRPr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   Adopt  Data-Driven  Purchasing  Decisions  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   Introduce  Limited  Stock  for  Low  Demand  Items</a:t>
            </a:r>
            <a:endParaRPr/>
          </a:p>
          <a:p>
            <a:pPr marL="91440" marR="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</a:pPr>
            <a:r>
              <a:rPr lang="en-IN" sz="24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●</a:t>
            </a:r>
            <a:r>
              <a:rPr lang="en-IN" sz="28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   Return  or  Exchange  with  Supplier</a:t>
            </a:r>
            <a:endParaRPr/>
          </a:p>
          <a:p>
            <a:pPr marL="91440" marR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endParaRPr sz="2800">
              <a:solidFill>
                <a:srgbClr val="0C0C0C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87" name="Google Shape;187;p21" descr="One big red thumbtack in front of many smaller black thumbtacks"/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4589" y="1087120"/>
            <a:ext cx="12192000" cy="577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Books on shelf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1440" y="3027680"/>
            <a:ext cx="2997200" cy="240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314960" y="4886960"/>
            <a:ext cx="7731760" cy="168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One of the best solutions is to focus more on MONDAY’s &amp; FRIDAY’s as those are the market days. On these days giving 2+1 or 3+1 offers would be really great. Offering dead stock items for free with two good performing items would be really helpful to reduce dead stock and increase overall profitability</a:t>
            </a:r>
            <a:r>
              <a:rPr lang="en-IN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E2F87-A5B2-6804-E881-95C8392B819A}"/>
              </a:ext>
            </a:extLst>
          </p:cNvPr>
          <p:cNvSpPr txBox="1"/>
          <p:nvPr/>
        </p:nvSpPr>
        <p:spPr>
          <a:xfrm>
            <a:off x="11484429" y="6433457"/>
            <a:ext cx="587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</a:t>
            </a:r>
            <a:r>
              <a:rPr lang="en-IN" dirty="0">
                <a:latin typeface="Algerian" panose="04020705040A02060702" pitchFamily="82" charset="0"/>
              </a:rPr>
              <a:t>9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/>
        </p:nvSpPr>
        <p:spPr>
          <a:xfrm>
            <a:off x="-1541" y="1087120"/>
            <a:ext cx="12188952" cy="577088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endParaRPr sz="19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91440" marR="0" lvl="0" indent="-1016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 "/>
            </a:pPr>
            <a:r>
              <a:rPr lang="en-I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● </a:t>
            </a:r>
            <a:r>
              <a:rPr lang="en-IN"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Sudheer Kumar Belts &amp; Goggles </a:t>
            </a:r>
            <a:endParaRPr/>
          </a:p>
          <a:p>
            <a:pPr marL="91440" marR="0" lvl="0" indent="-1270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IN"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is a well established </a:t>
            </a:r>
            <a:endParaRPr/>
          </a:p>
          <a:p>
            <a:pPr marL="91440" marR="0" lvl="0" indent="-1270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IN" sz="2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accessories  selling business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3048" y="0"/>
            <a:ext cx="12188952" cy="26924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endParaRPr sz="19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91440" marR="0" lvl="0" indent="-2794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Char char=" "/>
            </a:pPr>
            <a:r>
              <a:rPr lang="en-IN" sz="4400" u="sng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BDM PROJECT</a:t>
            </a:r>
            <a:r>
              <a:rPr lang="en-IN" sz="44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 - </a:t>
            </a:r>
            <a:endParaRPr/>
          </a:p>
        </p:txBody>
      </p:sp>
      <p:pic>
        <p:nvPicPr>
          <p:cNvPr id="197" name="Google Shape;197;p22" title="Hanging Lightbulb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69" y="2692400"/>
            <a:ext cx="12106131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 flipH="1">
            <a:off x="1828800" y="3302000"/>
            <a:ext cx="8173721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>
              <a:solidFill>
                <a:schemeClr val="lt1"/>
              </a:solidFill>
              <a:latin typeface="Eater"/>
              <a:ea typeface="Eater"/>
              <a:cs typeface="Eater"/>
              <a:sym typeface="Ea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>
                <a:solidFill>
                  <a:schemeClr val="lt1"/>
                </a:solidFill>
                <a:latin typeface="Eater"/>
                <a:ea typeface="Eater"/>
                <a:cs typeface="Eater"/>
                <a:sym typeface="Eater"/>
              </a:rPr>
              <a:t>THANK YOU </a:t>
            </a:r>
            <a:endParaRPr/>
          </a:p>
        </p:txBody>
      </p:sp>
      <p:pic>
        <p:nvPicPr>
          <p:cNvPr id="199" name="Google Shape;199;p22" descr="A cutout of white rectangles forming a line">
            <a:hlinkClick r:id="rId4"/>
          </p:cNvPr>
          <p:cNvPicPr preferRelativeResize="0"/>
          <p:nvPr/>
        </p:nvPicPr>
        <p:blipFill rotWithShape="1">
          <a:blip r:embed="rId5">
            <a:alphaModFix amt="15000"/>
          </a:blip>
          <a:srcRect/>
          <a:stretch/>
        </p:blipFill>
        <p:spPr>
          <a:xfrm>
            <a:off x="40640" y="0"/>
            <a:ext cx="12151360" cy="26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650240" y="1313766"/>
            <a:ext cx="9428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206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https://drive.google.com/drive/folders/1etBHtyKJqwYKZCw8tOjVTiYpYYPT65WF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B7A76-D35E-8A56-5920-E7A8CA698966}"/>
              </a:ext>
            </a:extLst>
          </p:cNvPr>
          <p:cNvSpPr txBox="1"/>
          <p:nvPr/>
        </p:nvSpPr>
        <p:spPr>
          <a:xfrm>
            <a:off x="11190514" y="6618514"/>
            <a:ext cx="783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</a:t>
            </a:r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Bookman Old Style</vt:lpstr>
      <vt:lpstr>Anton</vt:lpstr>
      <vt:lpstr>Calibri</vt:lpstr>
      <vt:lpstr>Lustria</vt:lpstr>
      <vt:lpstr>EB Garamond</vt:lpstr>
      <vt:lpstr>DM Sans</vt:lpstr>
      <vt:lpstr>Algerian</vt:lpstr>
      <vt:lpstr>Libre Franklin</vt:lpstr>
      <vt:lpstr>Eater</vt:lpstr>
      <vt:lpstr>Arial</vt:lpstr>
      <vt:lpstr>Custom</vt:lpstr>
      <vt:lpstr>Analytical Study of a Retail Accessories Shop</vt:lpstr>
      <vt:lpstr>ABOUT THE BUSINESS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adhyan mishra</cp:lastModifiedBy>
  <cp:revision>1</cp:revision>
  <dcterms:modified xsi:type="dcterms:W3CDTF">2025-01-23T07:17:27Z</dcterms:modified>
</cp:coreProperties>
</file>